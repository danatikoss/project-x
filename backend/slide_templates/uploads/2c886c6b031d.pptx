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9B1"/>
    <a:srgbClr val="007A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652"/>
  </p:normalViewPr>
  <p:slideViewPr>
    <p:cSldViewPr snapToGrid="0">
      <p:cViewPr varScale="1">
        <p:scale>
          <a:sx n="90" d="100"/>
          <a:sy n="90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352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DA2AC-16CD-5948-A687-55CDA36B3D1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069E2-D56F-9647-A2B8-14F6DF0417BA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96075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A4DC-A771-230A-8A96-2EE77171D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40D11-9BD0-507B-770D-2E2DC8935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F93B8-8E5E-E3F7-2D29-3DD41ACB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74D60-6E13-3C81-689D-F4DAF17E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4D78B-5135-1387-0E88-CA0562A0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525567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A692-C000-66E8-8F80-406C1DFE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E5FE-8A10-A0F1-4B7F-E3C3A709A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91A58-0368-3BAD-BAC9-315E2CA8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DD4C1-D5A1-85B6-0ED6-3F19B599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A56EA-F03B-A3B8-FD11-7376392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04311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A0AA-1D62-B60B-11BF-C06AA1341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7F993-8FF8-5634-67DB-1E861ED9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97ACB-5FB5-7A4B-B95F-0BB07392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B5254-80B6-0E74-AA8C-4804306C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818CE-E269-A176-DB5C-F3DBCAD2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89820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D4F3-088B-6ED6-3B7C-6861D958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DDCD8-5903-31F2-848D-E685EE084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9EEDE-CE5E-0A3F-75CB-B11A35E54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8EA07-AD46-06E5-A9F7-7F91A329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866BF-AF49-DC8C-B73B-43F443F3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CA5B5-8F76-26AF-E048-DA17A085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65403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4C00-5C3A-34FC-2CB2-CE3CF094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EBA4C-FBEE-38BD-A6BF-0982724D1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5C8FB-0A23-23D0-D611-1126F23E4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D2353-145A-B1BF-5F5B-7BFA292AC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0EF34-AD2C-2E0C-16BF-ABD82E0D5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3936B-1BF2-EA62-E683-FC1EF308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AEA364-28EE-C866-3065-5149A375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D52B3-4DAE-1C62-E371-E506A5C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93942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4ECCF-36FF-EDA4-E600-493E2901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8B447-8096-F685-0FD9-EB1EF6C9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571CE-56D2-5A41-F959-DAFA8F70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E561-9041-6501-1CC7-87D165AD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64724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9E840-5C0A-1BA3-E62D-59C72CC8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0DA69-6404-C7CF-EE4C-BB3353D4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7A4AB-6DE8-E44B-098F-4FB6A54D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5435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AF53-44DF-008E-FCBC-C2C75A2B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C1DDE-0D2D-7AA8-EE59-47F9E4447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3E6D-D779-A29E-8591-083036306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27F55-D7C8-255D-58EB-125438B5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C9A0F-ABFF-AD65-1B7F-83245BE8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9E6E4-5609-036D-CBA0-EC09BC60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12242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C05A0-EB19-6E34-ADCE-7C7C5305E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F8A7B2-E399-789E-A8D5-0ADE8B72E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9E39C-AF15-40A1-0E6F-66ED35F0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30DAA-651F-56F8-E91F-D0539215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3B1E9-1809-5C40-FD72-4A778882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57000-055B-1876-9D57-4D200164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34699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BF9B-89BD-1ABD-E58E-2BFB4310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976A9-5C81-75A5-2C6B-5B3CCF0EA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B0F73-1E90-6DCD-E7D6-83CB8617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196BB-49BD-026F-C45A-43B9360D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B1FC-7F60-816B-A209-3BB27295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09870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44BAE-8763-8337-C3BE-3858808F3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E5FA1-DA67-3BA7-F16E-524F66BAF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36541-CE6B-5BB4-EE68-FDABB48D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349B0-BD90-88E3-D0EF-0F69B3BA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818F2-DF82-FDB5-6918-EDC857F8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6011713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28DB6-0614-B068-2155-DB6C408B5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1ABF4-B467-1B5D-A5AC-F3AE07E89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FA971-9827-8AB1-F254-4DEAB61070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571BB-E38F-8092-689E-30ACEB146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2B926-4EE5-4E00-586F-B9BEC4208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1485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16916A43-9494-AA94-3741-C209C6BBCDB3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en-US" b="1" dirty="0" err="1">
                <a:solidFill>
                  <a:srgbClr val="FFFFFF"/>
                </a:solidFill>
                <a:latin typeface="Montserrat" pitchFamily="2" charset="77"/>
              </a:rPr>
              <a:t>eGov</a:t>
            </a:r>
            <a:r>
              <a:rPr lang="en-US" b="1" dirty="0">
                <a:solidFill>
                  <a:srgbClr val="FFFFFF"/>
                </a:solidFill>
                <a:latin typeface="Montserrat" pitchFamily="2" charset="77"/>
              </a:rPr>
              <a:t> AI</a:t>
            </a:r>
            <a:endParaRPr lang="ru-RU" b="0" dirty="0">
              <a:effectLst/>
            </a:endParaRPr>
          </a:p>
        </p:txBody>
      </p:sp>
      <p:sp>
        <p:nvSpPr>
          <p:cNvPr id="15" name="slot_subtitle">
            <a:extLst>
              <a:ext uri="{FF2B5EF4-FFF2-40B4-BE49-F238E27FC236}">
                <a16:creationId xmlns:a16="http://schemas.microsoft.com/office/drawing/2014/main" id="{4614380E-D1BA-0D5D-2C5F-A5ED74E79D01}"/>
              </a:ext>
            </a:extLst>
          </p:cNvPr>
          <p:cNvSpPr/>
          <p:nvPr/>
        </p:nvSpPr>
        <p:spPr>
          <a:xfrm>
            <a:off x="338203" y="1340285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eGov</a:t>
            </a: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AI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Персональный ассистент для госуслуг</a:t>
            </a:r>
            <a:endParaRPr lang="ru-RU" sz="12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slot_metric_1">
            <a:extLst>
              <a:ext uri="{FF2B5EF4-FFF2-40B4-BE49-F238E27FC236}">
                <a16:creationId xmlns:a16="http://schemas.microsoft.com/office/drawing/2014/main" id="{383F3300-A6A7-C63F-CC65-B827A873B8EC}"/>
              </a:ext>
            </a:extLst>
          </p:cNvPr>
          <p:cNvSpPr/>
          <p:nvPr/>
        </p:nvSpPr>
        <p:spPr>
          <a:xfrm>
            <a:off x="338203" y="3363240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Montserrat" pitchFamily="2" charset="77"/>
              </a:rPr>
              <a:t>730 000+</a:t>
            </a:r>
          </a:p>
          <a:p>
            <a:pPr algn="ctr"/>
            <a:r>
              <a:rPr lang="ru-RU" sz="1600" dirty="0">
                <a:solidFill>
                  <a:srgbClr val="FFFFFF"/>
                </a:solidFill>
                <a:latin typeface="Montserrat" pitchFamily="2" charset="77"/>
              </a:rPr>
              <a:t>пользователей</a:t>
            </a:r>
            <a:endParaRPr lang="ru-RU" sz="1600" dirty="0">
              <a:effectLst/>
            </a:endParaRPr>
          </a:p>
        </p:txBody>
      </p:sp>
      <p:sp>
        <p:nvSpPr>
          <p:cNvPr id="19" name="slot_metric_2">
            <a:extLst>
              <a:ext uri="{FF2B5EF4-FFF2-40B4-BE49-F238E27FC236}">
                <a16:creationId xmlns:a16="http://schemas.microsoft.com/office/drawing/2014/main" id="{161966C5-ED8A-F656-3777-FC72D673EA63}"/>
              </a:ext>
            </a:extLst>
          </p:cNvPr>
          <p:cNvSpPr/>
          <p:nvPr/>
        </p:nvSpPr>
        <p:spPr>
          <a:xfrm>
            <a:off x="4396636" y="3363240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FFFFF"/>
                </a:solidFill>
                <a:latin typeface="Montserrat" pitchFamily="2" charset="77"/>
              </a:rPr>
              <a:t>2М+</a:t>
            </a:r>
            <a:endParaRPr lang="en-US" sz="3600" b="1" dirty="0">
              <a:solidFill>
                <a:srgbClr val="FFFFFF"/>
              </a:solidFill>
              <a:latin typeface="Montserrat" pitchFamily="2" charset="77"/>
            </a:endParaRPr>
          </a:p>
          <a:p>
            <a:pPr algn="ctr"/>
            <a:r>
              <a:rPr lang="ru-RU" sz="1800" dirty="0">
                <a:solidFill>
                  <a:srgbClr val="FFFFFF"/>
                </a:solidFill>
                <a:latin typeface="Montserrat" pitchFamily="2" charset="77"/>
              </a:rPr>
              <a:t>обращений</a:t>
            </a:r>
            <a:endParaRPr lang="ru-RU" sz="1800" dirty="0">
              <a:effectLst/>
            </a:endParaRPr>
          </a:p>
        </p:txBody>
      </p:sp>
      <p:sp>
        <p:nvSpPr>
          <p:cNvPr id="20" name="slot_metric_3">
            <a:extLst>
              <a:ext uri="{FF2B5EF4-FFF2-40B4-BE49-F238E27FC236}">
                <a16:creationId xmlns:a16="http://schemas.microsoft.com/office/drawing/2014/main" id="{1ABB08B7-1628-4A2D-FC76-9DB6AE460C2B}"/>
              </a:ext>
            </a:extLst>
          </p:cNvPr>
          <p:cNvSpPr/>
          <p:nvPr/>
        </p:nvSpPr>
        <p:spPr>
          <a:xfrm>
            <a:off x="338203" y="4810164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FFFFF"/>
                </a:solidFill>
                <a:latin typeface="Montserrat" pitchFamily="2" charset="77"/>
              </a:rPr>
              <a:t>4.0</a:t>
            </a:r>
            <a:endParaRPr lang="en-US" sz="3600" b="1" dirty="0">
              <a:solidFill>
                <a:srgbClr val="FFFFFF"/>
              </a:solidFill>
              <a:latin typeface="Montserrat" pitchFamily="2" charset="77"/>
            </a:endParaRPr>
          </a:p>
          <a:p>
            <a:pPr algn="ctr"/>
            <a:r>
              <a:rPr lang="ru-RU" sz="1800" dirty="0">
                <a:solidFill>
                  <a:srgbClr val="FFFFFF"/>
                </a:solidFill>
                <a:latin typeface="Montserrat" pitchFamily="2" charset="77"/>
              </a:rPr>
              <a:t>Средняя оценка</a:t>
            </a:r>
            <a:endParaRPr lang="ru-RU" sz="1800" dirty="0">
              <a:effectLst/>
            </a:endParaRPr>
          </a:p>
        </p:txBody>
      </p:sp>
      <p:sp>
        <p:nvSpPr>
          <p:cNvPr id="21" name="slot_metric_4">
            <a:extLst>
              <a:ext uri="{FF2B5EF4-FFF2-40B4-BE49-F238E27FC236}">
                <a16:creationId xmlns:a16="http://schemas.microsoft.com/office/drawing/2014/main" id="{1BCBFEEE-BA7B-BD3C-2ADF-2951B53DA6E0}"/>
              </a:ext>
            </a:extLst>
          </p:cNvPr>
          <p:cNvSpPr/>
          <p:nvPr/>
        </p:nvSpPr>
        <p:spPr>
          <a:xfrm>
            <a:off x="4396636" y="4810164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FFFFF"/>
                </a:solidFill>
                <a:latin typeface="Montserrat" pitchFamily="2" charset="77"/>
              </a:rPr>
              <a:t>88</a:t>
            </a:r>
            <a:r>
              <a:rPr lang="en-US" sz="3600" b="1" dirty="0">
                <a:solidFill>
                  <a:srgbClr val="FFFFFF"/>
                </a:solidFill>
                <a:latin typeface="Montserrat" pitchFamily="2" charset="77"/>
              </a:rPr>
              <a:t>%</a:t>
            </a:r>
          </a:p>
          <a:p>
            <a:pPr algn="ctr"/>
            <a:r>
              <a:rPr lang="ru-RU" sz="1800" dirty="0">
                <a:solidFill>
                  <a:srgbClr val="FFFFFF"/>
                </a:solidFill>
                <a:latin typeface="Montserrat" pitchFamily="2" charset="77"/>
              </a:rPr>
              <a:t>точность</a:t>
            </a:r>
            <a:endParaRPr lang="ru-RU" sz="1800" dirty="0">
              <a:effectLst/>
            </a:endParaRPr>
          </a:p>
        </p:txBody>
      </p:sp>
      <p:sp>
        <p:nvSpPr>
          <p:cNvPr id="23" name="slot_label">
            <a:extLst>
              <a:ext uri="{FF2B5EF4-FFF2-40B4-BE49-F238E27FC236}">
                <a16:creationId xmlns:a16="http://schemas.microsoft.com/office/drawing/2014/main" id="{DDF8C508-556C-F568-B68B-39014CE1A0E0}"/>
              </a:ext>
            </a:extLst>
          </p:cNvPr>
          <p:cNvSpPr txBox="1"/>
          <p:nvPr/>
        </p:nvSpPr>
        <p:spPr>
          <a:xfrm>
            <a:off x="338203" y="2787134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latin typeface="Montserrat" pitchFamily="2" charset="77"/>
              </a:rPr>
              <a:t>Статистика:</a:t>
            </a:r>
            <a:endParaRPr lang="ru-RU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3005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93958-C04F-6A6F-CE55-35861847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489DEF04-57E9-C72D-E843-58A9227917E3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en-US" b="1" dirty="0">
                <a:solidFill>
                  <a:srgbClr val="FFFFFF"/>
                </a:solidFill>
                <a:latin typeface="Montserrat" pitchFamily="2" charset="77"/>
              </a:rPr>
              <a:t>Qazaq Law</a:t>
            </a:r>
            <a:endParaRPr lang="ru-RU" b="0" dirty="0">
              <a:effectLst/>
            </a:endParaRPr>
          </a:p>
        </p:txBody>
      </p:sp>
      <p:sp>
        <p:nvSpPr>
          <p:cNvPr id="15" name="slot_description">
            <a:extLst>
              <a:ext uri="{FF2B5EF4-FFF2-40B4-BE49-F238E27FC236}">
                <a16:creationId xmlns:a16="http://schemas.microsoft.com/office/drawing/2014/main" id="{396AEA01-614A-5D4D-4988-A11853FC52FF}"/>
              </a:ext>
            </a:extLst>
          </p:cNvPr>
          <p:cNvSpPr/>
          <p:nvPr/>
        </p:nvSpPr>
        <p:spPr>
          <a:xfrm>
            <a:off x="338203" y="1302707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Qazaq Law</a:t>
            </a: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Помощник по разъяснению юридических документов и вопросам законодательства Казахстана.</a:t>
            </a:r>
            <a:endParaRPr lang="ru-RU" sz="18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slot_case_1">
            <a:extLst>
              <a:ext uri="{FF2B5EF4-FFF2-40B4-BE49-F238E27FC236}">
                <a16:creationId xmlns:a16="http://schemas.microsoft.com/office/drawing/2014/main" id="{AD3727C3-F871-8A7C-10A1-B25081363F11}"/>
              </a:ext>
            </a:extLst>
          </p:cNvPr>
          <p:cNvSpPr/>
          <p:nvPr/>
        </p:nvSpPr>
        <p:spPr>
          <a:xfrm>
            <a:off x="338202" y="2697748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007A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Case 1</a:t>
            </a:r>
            <a:endParaRPr lang="en-US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5300" marR="1905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Поступил вопрос о том, какие нормы регулируют беспилотные транспортные средства в Республике Казахстан. Агент сообщил, что действующих стандартов в этой сфере пока нет.</a:t>
            </a:r>
          </a:p>
        </p:txBody>
      </p:sp>
      <p:sp>
        <p:nvSpPr>
          <p:cNvPr id="2" name="slot_case_2">
            <a:extLst>
              <a:ext uri="{FF2B5EF4-FFF2-40B4-BE49-F238E27FC236}">
                <a16:creationId xmlns:a16="http://schemas.microsoft.com/office/drawing/2014/main" id="{6028D7AC-8DA5-795E-F76B-B8C6A2651CD6}"/>
              </a:ext>
            </a:extLst>
          </p:cNvPr>
          <p:cNvSpPr/>
          <p:nvPr/>
        </p:nvSpPr>
        <p:spPr>
          <a:xfrm>
            <a:off x="338202" y="4092789"/>
            <a:ext cx="7741085" cy="2149828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007A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Case 2</a:t>
            </a:r>
          </a:p>
          <a:p>
            <a:pPr marL="495300" marR="190500" indent="-317500">
              <a:buClr>
                <a:srgbClr val="FFFFFF"/>
              </a:buClr>
              <a:buSzPts val="1200"/>
              <a:buFont typeface="Montserrat Medium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Агенту направлен запрос разработать необходимые нормативные акты для регулирования беспилотного транспорта или предложить изменения в текущие нормы с учетом международной практики.</a:t>
            </a:r>
            <a:r>
              <a:rPr lang="en-US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ответ ИИ сформировал предложения по регулированию летающих транспортных средств.</a:t>
            </a:r>
          </a:p>
        </p:txBody>
      </p:sp>
    </p:spTree>
    <p:extLst>
      <p:ext uri="{BB962C8B-B14F-4D97-AF65-F5344CB8AC3E}">
        <p14:creationId xmlns:p14="http://schemas.microsoft.com/office/powerpoint/2010/main" val="76024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238C8-B8A7-5DE8-CC26-A411A678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13C95E5F-5D65-32A0-36AE-4FFCAECDB1C8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effectLst/>
                <a:latin typeface="Montserrat" pitchFamily="2" charset="77"/>
              </a:rPr>
              <a:t>Переводчик</a:t>
            </a:r>
            <a:endParaRPr lang="ru-RU" b="0" dirty="0">
              <a:effectLst/>
            </a:endParaRPr>
          </a:p>
        </p:txBody>
      </p:sp>
      <p:sp>
        <p:nvSpPr>
          <p:cNvPr id="15" name="slot_description">
            <a:extLst>
              <a:ext uri="{FF2B5EF4-FFF2-40B4-BE49-F238E27FC236}">
                <a16:creationId xmlns:a16="http://schemas.microsoft.com/office/drawing/2014/main" id="{B2B7F816-7CDB-F792-1A8F-095570A5D780}"/>
              </a:ext>
            </a:extLst>
          </p:cNvPr>
          <p:cNvSpPr/>
          <p:nvPr/>
        </p:nvSpPr>
        <p:spPr>
          <a:xfrm>
            <a:off x="338203" y="1302707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Переводчик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4429" marR="17442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Инструмент автоматизированного перевода текстовой информации с казахского языка на русский и с русского на казахский.</a:t>
            </a:r>
          </a:p>
        </p:txBody>
      </p:sp>
      <p:sp>
        <p:nvSpPr>
          <p:cNvPr id="18" name="slot_previous_process">
            <a:extLst>
              <a:ext uri="{FF2B5EF4-FFF2-40B4-BE49-F238E27FC236}">
                <a16:creationId xmlns:a16="http://schemas.microsoft.com/office/drawing/2014/main" id="{29A08C7A-DD26-85F2-1ECC-06272F18C3B1}"/>
              </a:ext>
            </a:extLst>
          </p:cNvPr>
          <p:cNvSpPr/>
          <p:nvPr/>
        </p:nvSpPr>
        <p:spPr>
          <a:xfrm>
            <a:off x="338202" y="2697747"/>
            <a:ext cx="7741085" cy="1617469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007A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Раннее</a:t>
            </a:r>
            <a:endParaRPr lang="en-US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Для перевода текстов использовались внешние интернет-сервисы.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Документы выгружались с защищенных рабочих машин на другие компьютеры.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Процесс сопровождался рисками утечки информации.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Возрастала нагрузка за счет ручной обработки и передачи файлов.</a:t>
            </a:r>
          </a:p>
        </p:txBody>
      </p:sp>
      <p:sp>
        <p:nvSpPr>
          <p:cNvPr id="3" name="slot_current_process">
            <a:extLst>
              <a:ext uri="{FF2B5EF4-FFF2-40B4-BE49-F238E27FC236}">
                <a16:creationId xmlns:a16="http://schemas.microsoft.com/office/drawing/2014/main" id="{AE1CA92F-9C14-811B-27A8-F55EB874CB05}"/>
              </a:ext>
            </a:extLst>
          </p:cNvPr>
          <p:cNvSpPr/>
          <p:nvPr/>
        </p:nvSpPr>
        <p:spPr>
          <a:xfrm>
            <a:off x="338202" y="4463918"/>
            <a:ext cx="7741085" cy="1617470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EDD9B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6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 настоящее время:</a:t>
            </a:r>
            <a:endParaRPr lang="en-US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Перевод осуществляется напрямую в закрытом контуре ЕТС.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Исключена необходимость использования внешних ресурсов.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Повышена скорость и точность перевода документов.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Снижена бюрократическая нагрузка при работе с текстовыми материалами.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Работа с документами осуществляется в единой защищенной цифровой среде, где размещены и другие государственные сервисы, включая «</a:t>
            </a:r>
            <a:r>
              <a:rPr lang="ru-RU" sz="12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Документолог</a:t>
            </a: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129956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BF5B6B-A5E6-D30F-A9A4-A20F5A93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F8A7C499-F7DC-CD23-A723-0F4512F8A2C7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effectLst/>
                <a:latin typeface="Montserrat" pitchFamily="2" charset="77"/>
              </a:rPr>
              <a:t>Протоколирование</a:t>
            </a:r>
            <a:endParaRPr lang="ru-RU" b="0" dirty="0">
              <a:effectLst/>
            </a:endParaRPr>
          </a:p>
        </p:txBody>
      </p:sp>
      <p:sp>
        <p:nvSpPr>
          <p:cNvPr id="15" name="slot_description">
            <a:extLst>
              <a:ext uri="{FF2B5EF4-FFF2-40B4-BE49-F238E27FC236}">
                <a16:creationId xmlns:a16="http://schemas.microsoft.com/office/drawing/2014/main" id="{CCB30A54-8871-AD3B-A6C8-F976D5B84DEB}"/>
              </a:ext>
            </a:extLst>
          </p:cNvPr>
          <p:cNvSpPr/>
          <p:nvPr/>
        </p:nvSpPr>
        <p:spPr>
          <a:xfrm>
            <a:off x="338203" y="1302707"/>
            <a:ext cx="1152394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Протоколирование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ИИ-сервис для  </a:t>
            </a:r>
            <a:r>
              <a:rPr lang="ru-RU" sz="1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транскрибации</a:t>
            </a:r>
            <a:r>
              <a:rPr lang="ru-RU" sz="1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подготовки протоколов по аудиозаписям совещаний в государственных органах.</a:t>
            </a:r>
            <a:endParaRPr lang="ru-RU" sz="1800" dirty="0"/>
          </a:p>
        </p:txBody>
      </p:sp>
      <p:sp>
        <p:nvSpPr>
          <p:cNvPr id="3" name="slot_goals">
            <a:extLst>
              <a:ext uri="{FF2B5EF4-FFF2-40B4-BE49-F238E27FC236}">
                <a16:creationId xmlns:a16="http://schemas.microsoft.com/office/drawing/2014/main" id="{4E488646-A184-54FA-00DD-E538C8D6DA0C}"/>
              </a:ext>
            </a:extLst>
          </p:cNvPr>
          <p:cNvSpPr/>
          <p:nvPr/>
        </p:nvSpPr>
        <p:spPr>
          <a:xfrm>
            <a:off x="338202" y="2768252"/>
            <a:ext cx="5636713" cy="3507288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EDD9B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Цель внедрения: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Ускорение документооборота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ручного труда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Повышение точности и сохранности информации</a:t>
            </a:r>
          </a:p>
          <a:p>
            <a:pPr marL="4572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Функциональные возможности: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Транскрибация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совещаний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протокола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Gemma 27B</a:t>
            </a:r>
          </a:p>
        </p:txBody>
      </p:sp>
    </p:spTree>
    <p:extLst>
      <p:ext uri="{BB962C8B-B14F-4D97-AF65-F5344CB8AC3E}">
        <p14:creationId xmlns:p14="http://schemas.microsoft.com/office/powerpoint/2010/main" val="105508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0C891-B119-D050-98FC-99E093F80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1B0FC1F9-D911-59D8-0A38-257BF84B0154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effectLst/>
                <a:latin typeface="Montserrat" pitchFamily="2" charset="77"/>
              </a:rPr>
              <a:t>Протоколирование</a:t>
            </a:r>
            <a:endParaRPr lang="ru-RU" b="0" dirty="0">
              <a:effectLst/>
            </a:endParaRPr>
          </a:p>
        </p:txBody>
      </p:sp>
      <p:sp>
        <p:nvSpPr>
          <p:cNvPr id="15" name="slot_subtitle">
            <a:extLst>
              <a:ext uri="{FF2B5EF4-FFF2-40B4-BE49-F238E27FC236}">
                <a16:creationId xmlns:a16="http://schemas.microsoft.com/office/drawing/2014/main" id="{B96D91D8-0125-0E8C-428C-455B9AB922F6}"/>
              </a:ext>
            </a:extLst>
          </p:cNvPr>
          <p:cNvSpPr/>
          <p:nvPr/>
        </p:nvSpPr>
        <p:spPr>
          <a:xfrm>
            <a:off x="338203" y="1302707"/>
            <a:ext cx="4396636" cy="1127342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AI-</a:t>
            </a: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Терапевт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Помощник терапевта</a:t>
            </a:r>
            <a:endParaRPr lang="ru-RU" sz="2000" dirty="0"/>
          </a:p>
        </p:txBody>
      </p:sp>
      <p:sp>
        <p:nvSpPr>
          <p:cNvPr id="3" name="slot_body">
            <a:extLst>
              <a:ext uri="{FF2B5EF4-FFF2-40B4-BE49-F238E27FC236}">
                <a16:creationId xmlns:a16="http://schemas.microsoft.com/office/drawing/2014/main" id="{DD70831D-1DD3-F4F4-8881-0F2C639D2119}"/>
              </a:ext>
            </a:extLst>
          </p:cNvPr>
          <p:cNvSpPr/>
          <p:nvPr/>
        </p:nvSpPr>
        <p:spPr>
          <a:xfrm>
            <a:off x="338203" y="2655519"/>
            <a:ext cx="4396636" cy="2668044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EDD9B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Функциональные возможности:</a:t>
            </a:r>
          </a:p>
          <a:p>
            <a:pPr marL="457200" marR="177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-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фиксирование жалобы пациента с помощью технологий распознавания речи и обработки естественного языка</a:t>
            </a:r>
          </a:p>
          <a:p>
            <a:pPr marL="457200" marR="177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-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автоматическое формирование диагноза</a:t>
            </a:r>
          </a:p>
          <a:p>
            <a:pPr marL="457200" marR="177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-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сокращение времени приема пациента на 30%</a:t>
            </a:r>
          </a:p>
        </p:txBody>
      </p:sp>
      <p:sp>
        <p:nvSpPr>
          <p:cNvPr id="2" name="slot_metric">
            <a:extLst>
              <a:ext uri="{FF2B5EF4-FFF2-40B4-BE49-F238E27FC236}">
                <a16:creationId xmlns:a16="http://schemas.microsoft.com/office/drawing/2014/main" id="{6EB76A0E-7263-8D83-F45F-61AA78163B71}"/>
              </a:ext>
            </a:extLst>
          </p:cNvPr>
          <p:cNvSpPr/>
          <p:nvPr/>
        </p:nvSpPr>
        <p:spPr>
          <a:xfrm>
            <a:off x="338203" y="5549033"/>
            <a:ext cx="4396636" cy="843707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1778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Пилотируется в 38 клиниках</a:t>
            </a:r>
            <a:endParaRPr lang="ru-RU" sz="10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82345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7721D-D1E4-014A-37ED-69B1AC03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E6E5AA1D-EE28-B96B-8BFB-B1789DCA92C2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ИИ голосовой бот «Служба контроля качества» (СКК)</a:t>
            </a:r>
          </a:p>
        </p:txBody>
      </p:sp>
      <p:sp>
        <p:nvSpPr>
          <p:cNvPr id="15" name="slot_subtitle">
            <a:extLst>
              <a:ext uri="{FF2B5EF4-FFF2-40B4-BE49-F238E27FC236}">
                <a16:creationId xmlns:a16="http://schemas.microsoft.com/office/drawing/2014/main" id="{94B6C5A9-0C67-4FBF-D7FD-340FE1D790ED}"/>
              </a:ext>
            </a:extLst>
          </p:cNvPr>
          <p:cNvSpPr/>
          <p:nvPr/>
        </p:nvSpPr>
        <p:spPr>
          <a:xfrm>
            <a:off x="338202" y="1302707"/>
            <a:ext cx="11511419" cy="112734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ИИ-решение для автоматического обзвона граждан по обращениям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Используется в тестовом режиме МИО РК для контроля качества исполнения обращений граждан</a:t>
            </a:r>
          </a:p>
        </p:txBody>
      </p:sp>
      <p:sp>
        <p:nvSpPr>
          <p:cNvPr id="2" name="slot_benefits">
            <a:extLst>
              <a:ext uri="{FF2B5EF4-FFF2-40B4-BE49-F238E27FC236}">
                <a16:creationId xmlns:a16="http://schemas.microsoft.com/office/drawing/2014/main" id="{4632007B-2DA1-55DC-9598-BC205C69CD45}"/>
              </a:ext>
            </a:extLst>
          </p:cNvPr>
          <p:cNvSpPr/>
          <p:nvPr/>
        </p:nvSpPr>
        <p:spPr>
          <a:xfrm>
            <a:off x="338203" y="2898164"/>
            <a:ext cx="5599134" cy="1529788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Повышение 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прозрачности и качества контроля исполнения поручений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нагрузки на операторов колл-центров</a:t>
            </a:r>
          </a:p>
        </p:txBody>
      </p:sp>
      <p:sp>
        <p:nvSpPr>
          <p:cNvPr id="4" name="slot_capabilities">
            <a:extLst>
              <a:ext uri="{FF2B5EF4-FFF2-40B4-BE49-F238E27FC236}">
                <a16:creationId xmlns:a16="http://schemas.microsoft.com/office/drawing/2014/main" id="{BD7A8CEA-B9BD-D1A1-7971-B3B3155204A9}"/>
              </a:ext>
            </a:extLst>
          </p:cNvPr>
          <p:cNvSpPr/>
          <p:nvPr/>
        </p:nvSpPr>
        <p:spPr>
          <a:xfrm>
            <a:off x="6250488" y="2898164"/>
            <a:ext cx="5599134" cy="1529788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-"/>
            </a:pP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ASR / TTS </a:t>
            </a: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распознавание и синтез речи)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Верификация личности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Повторный дозвон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с ИАС </a:t>
            </a: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Smart Data </a:t>
            </a:r>
            <a:r>
              <a:rPr lang="en-US" sz="16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Ukimet</a:t>
            </a:r>
            <a:endParaRPr lang="en-US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slot_benefits_label">
            <a:extLst>
              <a:ext uri="{FF2B5EF4-FFF2-40B4-BE49-F238E27FC236}">
                <a16:creationId xmlns:a16="http://schemas.microsoft.com/office/drawing/2014/main" id="{A9F0B37C-953C-A10B-A5D2-E5FAF38F83E6}"/>
              </a:ext>
            </a:extLst>
          </p:cNvPr>
          <p:cNvSpPr txBox="1"/>
          <p:nvPr/>
        </p:nvSpPr>
        <p:spPr>
          <a:xfrm>
            <a:off x="338203" y="2479440"/>
            <a:ext cx="5599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latin typeface="Montserrat" pitchFamily="2" charset="77"/>
              </a:rPr>
              <a:t>Преимущества:</a:t>
            </a:r>
            <a:endParaRPr lang="ru-RU" b="0" dirty="0">
              <a:effectLst/>
            </a:endParaRPr>
          </a:p>
        </p:txBody>
      </p:sp>
      <p:sp>
        <p:nvSpPr>
          <p:cNvPr id="6" name="slot_capabilities_label">
            <a:extLst>
              <a:ext uri="{FF2B5EF4-FFF2-40B4-BE49-F238E27FC236}">
                <a16:creationId xmlns:a16="http://schemas.microsoft.com/office/drawing/2014/main" id="{E4C68996-C2AA-7901-C9DF-9B75C58DC7AA}"/>
              </a:ext>
            </a:extLst>
          </p:cNvPr>
          <p:cNvSpPr txBox="1"/>
          <p:nvPr/>
        </p:nvSpPr>
        <p:spPr>
          <a:xfrm>
            <a:off x="6250488" y="2479440"/>
            <a:ext cx="5599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latin typeface="Montserrat" pitchFamily="2" charset="77"/>
              </a:rPr>
              <a:t>Ключевые возможности:</a:t>
            </a:r>
            <a:endParaRPr lang="ru-RU" b="1" dirty="0">
              <a:effectLst/>
            </a:endParaRPr>
          </a:p>
        </p:txBody>
      </p:sp>
      <p:sp>
        <p:nvSpPr>
          <p:cNvPr id="13" name="slot_step_1">
            <a:extLst>
              <a:ext uri="{FF2B5EF4-FFF2-40B4-BE49-F238E27FC236}">
                <a16:creationId xmlns:a16="http://schemas.microsoft.com/office/drawing/2014/main" id="{D655B6AE-B577-C28B-9ECA-90618A8FD5E0}"/>
              </a:ext>
            </a:extLst>
          </p:cNvPr>
          <p:cNvSpPr/>
          <p:nvPr/>
        </p:nvSpPr>
        <p:spPr>
          <a:xfrm>
            <a:off x="338202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Идентификация обращения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ID, </a:t>
            </a: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дата)</a:t>
            </a:r>
          </a:p>
        </p:txBody>
      </p:sp>
      <p:sp>
        <p:nvSpPr>
          <p:cNvPr id="14" name="slot_step_2">
            <a:extLst>
              <a:ext uri="{FF2B5EF4-FFF2-40B4-BE49-F238E27FC236}">
                <a16:creationId xmlns:a16="http://schemas.microsoft.com/office/drawing/2014/main" id="{FE1B94D7-1FD4-CE38-A39D-CD72CDD3D6D1}"/>
              </a:ext>
            </a:extLst>
          </p:cNvPr>
          <p:cNvSpPr/>
          <p:nvPr/>
        </p:nvSpPr>
        <p:spPr>
          <a:xfrm>
            <a:off x="2352387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Диалог по утвержденному сценарию </a:t>
            </a: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RU/KZ)</a:t>
            </a:r>
          </a:p>
        </p:txBody>
      </p:sp>
      <p:sp>
        <p:nvSpPr>
          <p:cNvPr id="16" name="slot_step_3">
            <a:extLst>
              <a:ext uri="{FF2B5EF4-FFF2-40B4-BE49-F238E27FC236}">
                <a16:creationId xmlns:a16="http://schemas.microsoft.com/office/drawing/2014/main" id="{1D15E0BF-A53D-97CF-5140-AD248EF0CCEE}"/>
              </a:ext>
            </a:extLst>
          </p:cNvPr>
          <p:cNvSpPr/>
          <p:nvPr/>
        </p:nvSpPr>
        <p:spPr>
          <a:xfrm>
            <a:off x="4366572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Сбор оценки и комментариев</a:t>
            </a:r>
          </a:p>
        </p:txBody>
      </p:sp>
      <p:sp>
        <p:nvSpPr>
          <p:cNvPr id="17" name="slot_step_4">
            <a:extLst>
              <a:ext uri="{FF2B5EF4-FFF2-40B4-BE49-F238E27FC236}">
                <a16:creationId xmlns:a16="http://schemas.microsoft.com/office/drawing/2014/main" id="{70DA6321-BA01-9403-1B8F-4F5EF8EA4B7B}"/>
              </a:ext>
            </a:extLst>
          </p:cNvPr>
          <p:cNvSpPr/>
          <p:nvPr/>
        </p:nvSpPr>
        <p:spPr>
          <a:xfrm>
            <a:off x="6380757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Классификация результата </a:t>
            </a: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(доволен/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Недоволен)</a:t>
            </a:r>
          </a:p>
        </p:txBody>
      </p:sp>
      <p:sp>
        <p:nvSpPr>
          <p:cNvPr id="18" name="slot_step_5">
            <a:extLst>
              <a:ext uri="{FF2B5EF4-FFF2-40B4-BE49-F238E27FC236}">
                <a16:creationId xmlns:a16="http://schemas.microsoft.com/office/drawing/2014/main" id="{11A0347A-C332-0F7A-5C5C-706AABB35C28}"/>
              </a:ext>
            </a:extLst>
          </p:cNvPr>
          <p:cNvSpPr/>
          <p:nvPr/>
        </p:nvSpPr>
        <p:spPr>
          <a:xfrm>
            <a:off x="8394942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Автоматический возврат «проблемных» заявок на доработку</a:t>
            </a:r>
          </a:p>
        </p:txBody>
      </p:sp>
      <p:sp>
        <p:nvSpPr>
          <p:cNvPr id="12" name="slot_step_6">
            <a:extLst>
              <a:ext uri="{FF2B5EF4-FFF2-40B4-BE49-F238E27FC236}">
                <a16:creationId xmlns:a16="http://schemas.microsoft.com/office/drawing/2014/main" id="{9C365034-61B8-F547-BBDC-D5A418A6340A}"/>
              </a:ext>
            </a:extLst>
          </p:cNvPr>
          <p:cNvSpPr/>
          <p:nvPr/>
        </p:nvSpPr>
        <p:spPr>
          <a:xfrm>
            <a:off x="10409129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Повторный контроль после исправления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AE9843-952D-BFC4-EC93-03875B7F2CF8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1778694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65B124-965D-90B2-C2C7-D4F7272DC29D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792879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07F080A-7DC2-21AC-7E72-0CC78E77BCC3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5807064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0294DD-8CAF-0B33-9ACA-0E5EFE9F28E7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821249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3C02EC-D641-46B8-9246-487831E3823A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9835434" y="5424576"/>
            <a:ext cx="573695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578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B154F-4F22-DD1C-D046-CB6D7462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647F4F6E-2829-0835-265F-C94FBE97F1D7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Институциональная основа</a:t>
            </a:r>
          </a:p>
        </p:txBody>
      </p:sp>
      <p:sp>
        <p:nvSpPr>
          <p:cNvPr id="15" name="slot_subtitle">
            <a:extLst>
              <a:ext uri="{FF2B5EF4-FFF2-40B4-BE49-F238E27FC236}">
                <a16:creationId xmlns:a16="http://schemas.microsoft.com/office/drawing/2014/main" id="{5C63542C-7428-0F9C-6A92-E754342ABCDD}"/>
              </a:ext>
            </a:extLst>
          </p:cNvPr>
          <p:cNvSpPr/>
          <p:nvPr/>
        </p:nvSpPr>
        <p:spPr>
          <a:xfrm>
            <a:off x="338202" y="1302707"/>
            <a:ext cx="11511419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EDD9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Закон «Об искусственном интеллекте» </a:t>
            </a:r>
            <a:endParaRPr lang="ru-RU" sz="300" b="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132DFFC9-983E-1709-AE22-A888A123E539}"/>
              </a:ext>
            </a:extLst>
          </p:cNvPr>
          <p:cNvSpPr/>
          <p:nvPr/>
        </p:nvSpPr>
        <p:spPr>
          <a:xfrm rot="5400000">
            <a:off x="5885667" y="237289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slot_section_1_title">
            <a:extLst>
              <a:ext uri="{FF2B5EF4-FFF2-40B4-BE49-F238E27FC236}">
                <a16:creationId xmlns:a16="http://schemas.microsoft.com/office/drawing/2014/main" id="{DE57937A-40C2-4BC0-DCB1-D8D32BE034DF}"/>
              </a:ext>
            </a:extLst>
          </p:cNvPr>
          <p:cNvSpPr/>
          <p:nvPr/>
        </p:nvSpPr>
        <p:spPr>
          <a:xfrm>
            <a:off x="338203" y="2935787"/>
            <a:ext cx="3281820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Защита прав</a:t>
            </a:r>
            <a:endParaRPr lang="ru-RU" sz="20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slot_section_2_title">
            <a:extLst>
              <a:ext uri="{FF2B5EF4-FFF2-40B4-BE49-F238E27FC236}">
                <a16:creationId xmlns:a16="http://schemas.microsoft.com/office/drawing/2014/main" id="{1745910E-F442-8B4D-5F1B-0773F5634BDE}"/>
              </a:ext>
            </a:extLst>
          </p:cNvPr>
          <p:cNvSpPr/>
          <p:nvPr/>
        </p:nvSpPr>
        <p:spPr>
          <a:xfrm>
            <a:off x="4446740" y="2935787"/>
            <a:ext cx="3281820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Инфраструктура</a:t>
            </a:r>
            <a:endParaRPr lang="ru-RU" sz="20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" name="slot_section_3_title">
            <a:extLst>
              <a:ext uri="{FF2B5EF4-FFF2-40B4-BE49-F238E27FC236}">
                <a16:creationId xmlns:a16="http://schemas.microsoft.com/office/drawing/2014/main" id="{F6AA4199-1932-F077-8EB4-DEE2395034D3}"/>
              </a:ext>
            </a:extLst>
          </p:cNvPr>
          <p:cNvSpPr/>
          <p:nvPr/>
        </p:nvSpPr>
        <p:spPr>
          <a:xfrm>
            <a:off x="8567803" y="2935787"/>
            <a:ext cx="3281820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Обеспечение безопасности</a:t>
            </a:r>
            <a:endParaRPr lang="ru-RU" sz="20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" name="slot_section_1_content">
            <a:extLst>
              <a:ext uri="{FF2B5EF4-FFF2-40B4-BE49-F238E27FC236}">
                <a16:creationId xmlns:a16="http://schemas.microsoft.com/office/drawing/2014/main" id="{6B4CFC74-C041-A6AD-104D-E4CF6B26319B}"/>
              </a:ext>
            </a:extLst>
          </p:cNvPr>
          <p:cNvSpPr/>
          <p:nvPr/>
        </p:nvSpPr>
        <p:spPr>
          <a:xfrm>
            <a:off x="338203" y="4568868"/>
            <a:ext cx="3281820" cy="1823871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 Этические принципы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Маркировка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Авторские права в сфере ИИ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Меры государственной поддержки</a:t>
            </a:r>
          </a:p>
        </p:txBody>
      </p:sp>
      <p:sp>
        <p:nvSpPr>
          <p:cNvPr id="23" name="slot_section_2_content">
            <a:extLst>
              <a:ext uri="{FF2B5EF4-FFF2-40B4-BE49-F238E27FC236}">
                <a16:creationId xmlns:a16="http://schemas.microsoft.com/office/drawing/2014/main" id="{EEE9452B-040A-9565-912A-A4D355C82A75}"/>
              </a:ext>
            </a:extLst>
          </p:cNvPr>
          <p:cNvSpPr/>
          <p:nvPr/>
        </p:nvSpPr>
        <p:spPr>
          <a:xfrm>
            <a:off x="4446740" y="4568868"/>
            <a:ext cx="3281820" cy="1823871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Правила доступа к суперкомпьютеру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Библиотек данных</a:t>
            </a:r>
          </a:p>
        </p:txBody>
      </p:sp>
      <p:sp>
        <p:nvSpPr>
          <p:cNvPr id="24" name="slot_section_3_content">
            <a:extLst>
              <a:ext uri="{FF2B5EF4-FFF2-40B4-BE49-F238E27FC236}">
                <a16:creationId xmlns:a16="http://schemas.microsoft.com/office/drawing/2014/main" id="{3461527D-5BD2-EFDC-34AB-0A702F92A58B}"/>
              </a:ext>
            </a:extLst>
          </p:cNvPr>
          <p:cNvSpPr/>
          <p:nvPr/>
        </p:nvSpPr>
        <p:spPr>
          <a:xfrm>
            <a:off x="8567803" y="4568868"/>
            <a:ext cx="3281820" cy="1823871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Управление рисками систем ИИ</a:t>
            </a:r>
            <a:b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Перечни доверенных систем ИИ</a:t>
            </a:r>
            <a:endParaRPr lang="ru-RU" sz="12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FFB8002-FB92-A672-0978-A40A2F0B3DF8}"/>
              </a:ext>
            </a:extLst>
          </p:cNvPr>
          <p:cNvSpPr/>
          <p:nvPr/>
        </p:nvSpPr>
        <p:spPr>
          <a:xfrm rot="5400000">
            <a:off x="10006731" y="237289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9329E686-A358-1188-92AF-2DDCEA019896}"/>
              </a:ext>
            </a:extLst>
          </p:cNvPr>
          <p:cNvSpPr/>
          <p:nvPr/>
        </p:nvSpPr>
        <p:spPr>
          <a:xfrm rot="5400000">
            <a:off x="1781304" y="237289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473308F0-C595-128B-A79D-379E7351CE52}"/>
              </a:ext>
            </a:extLst>
          </p:cNvPr>
          <p:cNvSpPr/>
          <p:nvPr/>
        </p:nvSpPr>
        <p:spPr>
          <a:xfrm rot="5400000">
            <a:off x="5885667" y="400597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D8BA4DC-8C20-559C-E0A2-DC4BEED3D77E}"/>
              </a:ext>
            </a:extLst>
          </p:cNvPr>
          <p:cNvSpPr/>
          <p:nvPr/>
        </p:nvSpPr>
        <p:spPr>
          <a:xfrm rot="5400000">
            <a:off x="10006731" y="400597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88712283-77E6-F7C7-3C9A-D9A264006C6D}"/>
              </a:ext>
            </a:extLst>
          </p:cNvPr>
          <p:cNvSpPr/>
          <p:nvPr/>
        </p:nvSpPr>
        <p:spPr>
          <a:xfrm rot="5400000">
            <a:off x="1781304" y="400597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77937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9AB09-DD7C-C52C-8401-2DEDCB34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D992085F-229D-3857-7947-45C587443F3F}"/>
              </a:ext>
            </a:extLst>
          </p:cNvPr>
          <p:cNvSpPr txBox="1"/>
          <p:nvPr/>
        </p:nvSpPr>
        <p:spPr>
          <a:xfrm>
            <a:off x="1893518" y="492126"/>
            <a:ext cx="9605375" cy="31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Человеческий капитал. Планы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BC0F399-6709-2141-5028-D9CBAE4A0384}"/>
              </a:ext>
            </a:extLst>
          </p:cNvPr>
          <p:cNvSpPr/>
          <p:nvPr/>
        </p:nvSpPr>
        <p:spPr>
          <a:xfrm>
            <a:off x="5894018" y="1636211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0" name="slot_timeline">
            <a:extLst>
              <a:ext uri="{FF2B5EF4-FFF2-40B4-BE49-F238E27FC236}">
                <a16:creationId xmlns:a16="http://schemas.microsoft.com/office/drawing/2014/main" id="{F429A5B8-800E-0FB9-8AED-EA179EA6E123}"/>
              </a:ext>
            </a:extLst>
          </p:cNvPr>
          <p:cNvSpPr/>
          <p:nvPr/>
        </p:nvSpPr>
        <p:spPr>
          <a:xfrm>
            <a:off x="1893518" y="1337152"/>
            <a:ext cx="3612450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lang="en-US" sz="3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лет</a:t>
            </a:r>
            <a:endParaRPr lang="ru-RU" sz="200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slot_total_goal">
            <a:extLst>
              <a:ext uri="{FF2B5EF4-FFF2-40B4-BE49-F238E27FC236}">
                <a16:creationId xmlns:a16="http://schemas.microsoft.com/office/drawing/2014/main" id="{0AC523BD-06A8-6656-20BD-A42A804B0565}"/>
              </a:ext>
            </a:extLst>
          </p:cNvPr>
          <p:cNvSpPr/>
          <p:nvPr/>
        </p:nvSpPr>
        <p:spPr>
          <a:xfrm>
            <a:off x="6686032" y="1337152"/>
            <a:ext cx="3612450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EDD9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млн </a:t>
            </a:r>
            <a:br>
              <a:rPr lang="ru-RU" sz="4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человек в сфере ИИ</a:t>
            </a:r>
            <a:endParaRPr lang="ru-RU" sz="180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" name="Google Shape;709;p58">
            <a:extLst>
              <a:ext uri="{FF2B5EF4-FFF2-40B4-BE49-F238E27FC236}">
                <a16:creationId xmlns:a16="http://schemas.microsoft.com/office/drawing/2014/main" id="{86E2BBE4-F46B-447F-01CA-83AE4553862B}"/>
              </a:ext>
            </a:extLst>
          </p:cNvPr>
          <p:cNvCxnSpPr>
            <a:cxnSpLocks/>
          </p:cNvCxnSpPr>
          <p:nvPr/>
        </p:nvCxnSpPr>
        <p:spPr>
          <a:xfrm>
            <a:off x="589864" y="3183378"/>
            <a:ext cx="11012272" cy="19378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slot_metric_1">
            <a:extLst>
              <a:ext uri="{FF2B5EF4-FFF2-40B4-BE49-F238E27FC236}">
                <a16:creationId xmlns:a16="http://schemas.microsoft.com/office/drawing/2014/main" id="{95943EC8-1397-9C08-74CA-C54A99CEC660}"/>
              </a:ext>
            </a:extLst>
          </p:cNvPr>
          <p:cNvSpPr/>
          <p:nvPr/>
        </p:nvSpPr>
        <p:spPr>
          <a:xfrm>
            <a:off x="589864" y="3637382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500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школьников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" name="slot_metric_2">
            <a:extLst>
              <a:ext uri="{FF2B5EF4-FFF2-40B4-BE49-F238E27FC236}">
                <a16:creationId xmlns:a16="http://schemas.microsoft.com/office/drawing/2014/main" id="{67B4B747-660A-75D9-93F9-ABDC7FEAE26E}"/>
              </a:ext>
            </a:extLst>
          </p:cNvPr>
          <p:cNvSpPr/>
          <p:nvPr/>
        </p:nvSpPr>
        <p:spPr>
          <a:xfrm>
            <a:off x="4460407" y="3637382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00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студентов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" name="slot_metric_3">
            <a:extLst>
              <a:ext uri="{FF2B5EF4-FFF2-40B4-BE49-F238E27FC236}">
                <a16:creationId xmlns:a16="http://schemas.microsoft.com/office/drawing/2014/main" id="{A842E942-C156-002A-1B41-56EC6CED3B81}"/>
              </a:ext>
            </a:extLst>
          </p:cNvPr>
          <p:cNvSpPr/>
          <p:nvPr/>
        </p:nvSpPr>
        <p:spPr>
          <a:xfrm>
            <a:off x="8330950" y="3637382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90 000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госслужащих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" name="slot_metric_4">
            <a:extLst>
              <a:ext uri="{FF2B5EF4-FFF2-40B4-BE49-F238E27FC236}">
                <a16:creationId xmlns:a16="http://schemas.microsoft.com/office/drawing/2014/main" id="{65C78CDF-BC78-F631-B32E-B1C4560A28C9}"/>
              </a:ext>
            </a:extLst>
          </p:cNvPr>
          <p:cNvSpPr/>
          <p:nvPr/>
        </p:nvSpPr>
        <p:spPr>
          <a:xfrm>
            <a:off x="2481295" y="4902511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80 000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предпринимателей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" name="slot_metric_5">
            <a:extLst>
              <a:ext uri="{FF2B5EF4-FFF2-40B4-BE49-F238E27FC236}">
                <a16:creationId xmlns:a16="http://schemas.microsoft.com/office/drawing/2014/main" id="{6C06F4F0-A49C-7355-1F2C-61241F1E1B6D}"/>
              </a:ext>
            </a:extLst>
          </p:cNvPr>
          <p:cNvSpPr/>
          <p:nvPr/>
        </p:nvSpPr>
        <p:spPr>
          <a:xfrm>
            <a:off x="6351838" y="4902511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30 000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другие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5386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00185-506D-E0E9-6230-357E6011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BD844C3D-5EF6-B507-92A9-210615C1CE51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Человеческий капитал. Программы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711DCB69-1CFD-AE7A-1017-16CD7A252BFE}"/>
              </a:ext>
            </a:extLst>
          </p:cNvPr>
          <p:cNvSpPr/>
          <p:nvPr/>
        </p:nvSpPr>
        <p:spPr>
          <a:xfrm>
            <a:off x="5894018" y="1636211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3A4A77EC-0D0E-6F53-CB57-504AD4DE332C}"/>
              </a:ext>
            </a:extLst>
          </p:cNvPr>
          <p:cNvSpPr/>
          <p:nvPr/>
        </p:nvSpPr>
        <p:spPr>
          <a:xfrm>
            <a:off x="5894018" y="2878376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0A886865-5C03-D9DC-C400-7A9262C22E89}"/>
              </a:ext>
            </a:extLst>
          </p:cNvPr>
          <p:cNvSpPr/>
          <p:nvPr/>
        </p:nvSpPr>
        <p:spPr>
          <a:xfrm>
            <a:off x="5894018" y="4120541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4266F216-A47C-67EF-A9B5-A673DFF74325}"/>
              </a:ext>
            </a:extLst>
          </p:cNvPr>
          <p:cNvSpPr/>
          <p:nvPr/>
        </p:nvSpPr>
        <p:spPr>
          <a:xfrm>
            <a:off x="5894018" y="5362706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slot_program_4_name">
            <a:extLst>
              <a:ext uri="{FF2B5EF4-FFF2-40B4-BE49-F238E27FC236}">
                <a16:creationId xmlns:a16="http://schemas.microsoft.com/office/drawing/2014/main" id="{97636E1C-DA5A-A719-73FA-E6ED392CE2DB}"/>
              </a:ext>
            </a:extLst>
          </p:cNvPr>
          <p:cNvSpPr/>
          <p:nvPr/>
        </p:nvSpPr>
        <p:spPr>
          <a:xfrm>
            <a:off x="338200" y="5063649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Национальной платформе ИИ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slot_program_3_name">
            <a:extLst>
              <a:ext uri="{FF2B5EF4-FFF2-40B4-BE49-F238E27FC236}">
                <a16:creationId xmlns:a16="http://schemas.microsoft.com/office/drawing/2014/main" id="{C8DDF103-5122-F270-B7C6-3B08221B21FD}"/>
              </a:ext>
            </a:extLst>
          </p:cNvPr>
          <p:cNvSpPr/>
          <p:nvPr/>
        </p:nvSpPr>
        <p:spPr>
          <a:xfrm>
            <a:off x="338200" y="3821484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QYZMET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slot_program_2_name">
            <a:extLst>
              <a:ext uri="{FF2B5EF4-FFF2-40B4-BE49-F238E27FC236}">
                <a16:creationId xmlns:a16="http://schemas.microsoft.com/office/drawing/2014/main" id="{C09C255D-B67D-0090-3408-0F26A568EE2B}"/>
              </a:ext>
            </a:extLst>
          </p:cNvPr>
          <p:cNvSpPr/>
          <p:nvPr/>
        </p:nvSpPr>
        <p:spPr>
          <a:xfrm>
            <a:off x="338199" y="2579318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SANA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slot_program_1_name">
            <a:extLst>
              <a:ext uri="{FF2B5EF4-FFF2-40B4-BE49-F238E27FC236}">
                <a16:creationId xmlns:a16="http://schemas.microsoft.com/office/drawing/2014/main" id="{90E8E280-4F54-724C-25BE-C10C7EA4F9ED}"/>
              </a:ext>
            </a:extLst>
          </p:cNvPr>
          <p:cNvSpPr/>
          <p:nvPr/>
        </p:nvSpPr>
        <p:spPr>
          <a:xfrm>
            <a:off x="320193" y="1337152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Tomorrow School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slot_program_4_result">
            <a:extLst>
              <a:ext uri="{FF2B5EF4-FFF2-40B4-BE49-F238E27FC236}">
                <a16:creationId xmlns:a16="http://schemas.microsoft.com/office/drawing/2014/main" id="{E5E8F322-959E-8FC9-9A0A-C36FA853349E}"/>
              </a:ext>
            </a:extLst>
          </p:cNvPr>
          <p:cNvSpPr/>
          <p:nvPr/>
        </p:nvSpPr>
        <p:spPr>
          <a:xfrm>
            <a:off x="6688896" y="5063649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4500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человек прошли обучение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" name="slot_program_3_result">
            <a:extLst>
              <a:ext uri="{FF2B5EF4-FFF2-40B4-BE49-F238E27FC236}">
                <a16:creationId xmlns:a16="http://schemas.microsoft.com/office/drawing/2014/main" id="{4DF79829-624B-1E29-0E14-6536349BC332}"/>
              </a:ext>
            </a:extLst>
          </p:cNvPr>
          <p:cNvSpPr/>
          <p:nvPr/>
        </p:nvSpPr>
        <p:spPr>
          <a:xfrm>
            <a:off x="6688896" y="3821484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54К</a:t>
            </a:r>
            <a:endParaRPr lang="ru-RU" sz="24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госслужащих прошли обучение</a:t>
            </a:r>
            <a:endParaRPr lang="ru-RU" sz="1600" b="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" name="slot_program_2_result">
            <a:extLst>
              <a:ext uri="{FF2B5EF4-FFF2-40B4-BE49-F238E27FC236}">
                <a16:creationId xmlns:a16="http://schemas.microsoft.com/office/drawing/2014/main" id="{A80A304A-457A-2554-CC92-055155941545}"/>
              </a:ext>
            </a:extLst>
          </p:cNvPr>
          <p:cNvSpPr/>
          <p:nvPr/>
        </p:nvSpPr>
        <p:spPr>
          <a:xfrm>
            <a:off x="6688895" y="2579318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650К</a:t>
            </a:r>
            <a:endParaRPr lang="ru-RU" sz="24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студентов получили сертификаты</a:t>
            </a:r>
            <a:endParaRPr lang="ru-RU" sz="1600" b="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" name="slot_program_1_result">
            <a:extLst>
              <a:ext uri="{FF2B5EF4-FFF2-40B4-BE49-F238E27FC236}">
                <a16:creationId xmlns:a16="http://schemas.microsoft.com/office/drawing/2014/main" id="{70049BD5-024A-424E-7897-07E7794DB91D}"/>
              </a:ext>
            </a:extLst>
          </p:cNvPr>
          <p:cNvSpPr/>
          <p:nvPr/>
        </p:nvSpPr>
        <p:spPr>
          <a:xfrm>
            <a:off x="6670889" y="1337152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потоков, 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16К</a:t>
            </a: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заявок,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300</a:t>
            </a: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студентов 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проходят обучение</a:t>
            </a:r>
            <a:endParaRPr lang="ru-RU" sz="1600" b="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14378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13315-C6C8-6CD6-2F7F-21D27F13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title">
            <a:extLst>
              <a:ext uri="{FF2B5EF4-FFF2-40B4-BE49-F238E27FC236}">
                <a16:creationId xmlns:a16="http://schemas.microsoft.com/office/drawing/2014/main" id="{13A24D09-C7F1-88D8-4775-96C755F21659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ИИ-Помощник по рассмотрению обращений</a:t>
            </a:r>
          </a:p>
        </p:txBody>
      </p:sp>
      <p:sp>
        <p:nvSpPr>
          <p:cNvPr id="28" name="slot_metric_1">
            <a:extLst>
              <a:ext uri="{FF2B5EF4-FFF2-40B4-BE49-F238E27FC236}">
                <a16:creationId xmlns:a16="http://schemas.microsoft.com/office/drawing/2014/main" id="{432DF400-607A-2CA0-F8B6-610F7C47FDFE}"/>
              </a:ext>
            </a:extLst>
          </p:cNvPr>
          <p:cNvSpPr/>
          <p:nvPr/>
        </p:nvSpPr>
        <p:spPr>
          <a:xfrm>
            <a:off x="320194" y="4967284"/>
            <a:ext cx="2956146" cy="122898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r>
              <a:rPr lang="ru-RU" sz="2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</a:p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Госорганов</a:t>
            </a:r>
          </a:p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используют ИИ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slot_metric_2">
            <a:extLst>
              <a:ext uri="{FF2B5EF4-FFF2-40B4-BE49-F238E27FC236}">
                <a16:creationId xmlns:a16="http://schemas.microsoft.com/office/drawing/2014/main" id="{B9301671-451F-D7DE-3B11-468821D3EE5B}"/>
              </a:ext>
            </a:extLst>
          </p:cNvPr>
          <p:cNvSpPr/>
          <p:nvPr/>
        </p:nvSpPr>
        <p:spPr>
          <a:xfrm>
            <a:off x="320194" y="3482322"/>
            <a:ext cx="2956146" cy="122898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2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млн</a:t>
            </a: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Обращений,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обработанных ИИ</a:t>
            </a:r>
            <a:endParaRPr lang="ru-RU" sz="16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slot_metric_3">
            <a:extLst>
              <a:ext uri="{FF2B5EF4-FFF2-40B4-BE49-F238E27FC236}">
                <a16:creationId xmlns:a16="http://schemas.microsoft.com/office/drawing/2014/main" id="{747584C1-29D9-283F-8769-2F88E47C3279}"/>
              </a:ext>
            </a:extLst>
          </p:cNvPr>
          <p:cNvSpPr/>
          <p:nvPr/>
        </p:nvSpPr>
        <p:spPr>
          <a:xfrm>
            <a:off x="320194" y="2052314"/>
            <a:ext cx="2956146" cy="122898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2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 </a:t>
            </a: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раб. дней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Регламент рассмотрения обращений</a:t>
            </a:r>
            <a:endParaRPr lang="ru-RU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ot_subtitle">
            <a:extLst>
              <a:ext uri="{FF2B5EF4-FFF2-40B4-BE49-F238E27FC236}">
                <a16:creationId xmlns:a16="http://schemas.microsoft.com/office/drawing/2014/main" id="{498D95A0-AB77-C901-E79D-4C565650223C}"/>
              </a:ext>
            </a:extLst>
          </p:cNvPr>
          <p:cNvSpPr txBox="1"/>
          <p:nvPr/>
        </p:nvSpPr>
        <p:spPr>
          <a:xfrm>
            <a:off x="359077" y="1130422"/>
            <a:ext cx="11139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ИИ-сервис для  </a:t>
            </a:r>
            <a:r>
              <a:rPr lang="ru-RU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транскрибации</a:t>
            </a:r>
            <a:r>
              <a:rPr lang="ru-RU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подготовки протоколов по аудиозаписям совещаний в государственных органах.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1187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535</Words>
  <Application>Microsoft Macintosh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Inter</vt:lpstr>
      <vt:lpstr>Montserrat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</cp:revision>
  <dcterms:created xsi:type="dcterms:W3CDTF">2026-04-12T12:46:41Z</dcterms:created>
  <dcterms:modified xsi:type="dcterms:W3CDTF">2026-04-12T15:02:48Z</dcterms:modified>
</cp:coreProperties>
</file>